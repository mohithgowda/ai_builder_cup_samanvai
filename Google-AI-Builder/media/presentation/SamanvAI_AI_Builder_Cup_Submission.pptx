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jpg"/><Relationship Id="rId6" Type="http://schemas.openxmlformats.org/officeDocument/2006/relationships/image" Target="../media/image7.jpg"/><Relationship Id="rId7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73152" spcFirstLastPara="1" rIns="73152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sz="2100" b="1">
                <a:solidFill>
                  <a:srgbClr val="1C3038"/>
                </a:solidFill>
                <a:latin typeface="Arial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C3038"/>
                </a:solidFill>
                <a:latin typeface="Arial"/>
              </a:rPr>
              <a:t>Team name: SamanvAI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526B73"/>
                </a:solidFill>
                <a:latin typeface="Arial"/>
              </a:rPr>
              <a:t>Team lead: [Add team lead name]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Problem: citizens navigate fragmented services while officials lack a unified, jurisdiction-scoped operating view.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4754880" y="1115568"/>
            <a:ext cx="38862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6" spcFirstLastPara="1" rIns="36576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sz="2200" b="1">
                <a:solidFill>
                  <a:srgbClr val="FFFFFF"/>
                </a:solidFill>
                <a:latin typeface="Arial"/>
              </a:rPr>
              <a:t>One connected civic service loop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8C6D0"/>
                </a:solidFill>
                <a:latin typeface="Arial"/>
              </a:rPr>
              <a:t>CITIZENS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Discover a service, create a demo request, and track its next step.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8C6D0"/>
                </a:solidFill>
                <a:latin typeface="Arial"/>
              </a:rPr>
              <a:t>OFFICIALS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Review jurisdiction-scoped cases, trends, overdue work and department performance.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48C6D0"/>
                </a:solidFill>
                <a:latin typeface="Arial"/>
              </a:rPr>
              <a:t>SAMANVAY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Multilingual guidance leads to real forms; people review and submit themselves.</a:t>
            </a:r>
          </a:p>
        </p:txBody>
      </p:sp>
      <p:pic>
        <p:nvPicPr>
          <p:cNvPr id="64" name="Picture 63" descr="citize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44752"/>
            <a:ext cx="3977639" cy="2240280"/>
          </a:xfrm>
          <a:prstGeom prst="rect">
            <a:avLst/>
          </a:prstGeom>
          <a:ln w="12700">
            <a:solidFill>
              <a:srgbClr val="314147"/>
            </a:solidFill>
          </a:ln>
        </p:spPr>
      </p:pic>
      <p:sp>
        <p:nvSpPr>
          <p:cNvPr id="65" name="TextBox 64"/>
          <p:cNvSpPr txBox="1"/>
          <p:nvPr/>
        </p:nvSpPr>
        <p:spPr>
          <a:xfrm>
            <a:off x="566928" y="3931920"/>
            <a:ext cx="397763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19" b="1">
                <a:solidFill>
                  <a:srgbClr val="9EDFE4"/>
                </a:solidFill>
                <a:latin typeface="Arial"/>
              </a:rPr>
              <a:t>SYNTHETIC PILOT  |  NO OFFICIAL DEPARTMENT SYSTEMS CONNECTED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93192" y="1353312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526B73"/>
                </a:solidFill>
                <a:latin typeface="Arial"/>
              </a:rPr>
              <a:t>SamanvAI joins citizen service discovery and government case review in one role-aware workflow.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1874519"/>
            <a:ext cx="2606040" cy="23317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1480" y="1874519"/>
            <a:ext cx="54864" cy="23317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" y="198424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Fragmented journey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6072" y="2377439"/>
            <a:ext cx="2313432" cy="1737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Citizens need to find the right service, understand next steps and follow an application across stages.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55264" y="1874519"/>
            <a:ext cx="260604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55264" y="1874519"/>
            <a:ext cx="54864" cy="233172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19856" y="198424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Limited operational 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9856" y="2377439"/>
            <a:ext cx="2313432" cy="1737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Officials need comparable service, aging and SLA signals scoped to their verified state, district, taluk or department role.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8" y="1874519"/>
            <a:ext cx="2606040" cy="2331720"/>
          </a:xfrm>
          <a:prstGeom prst="roundRect">
            <a:avLst/>
          </a:prstGeom>
          <a:solidFill>
            <a:srgbClr val="EEF6F2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99048" y="1874519"/>
            <a:ext cx="54864" cy="23317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63640" y="198424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One accountable pilot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2377439"/>
            <a:ext cx="2313432" cy="1737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A citizen workspace, governance review and constrained Samanvay guide share the same case store and authorization boundaries.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" y="4681728"/>
            <a:ext cx="837590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9" b="0">
                <a:solidFill>
                  <a:srgbClr val="526B73"/>
                </a:solidFill>
                <a:latin typeface="Arial"/>
              </a:rPr>
              <a:t>Pilot scope: synthetic Karnataka records and illustrative service rules; no external government portals are connected.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Opportunity and differentiators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411480" y="1554480"/>
            <a:ext cx="2606040" cy="260604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1480" y="1554480"/>
            <a:ext cx="54864" cy="26060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072" y="1664207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Service continuity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" y="2057400"/>
            <a:ext cx="2313432" cy="2011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Service catalog -&gt; application intake -&gt; status tracking -&gt; explicit grievance or escalation action.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55264" y="1554480"/>
            <a:ext cx="2606040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255264" y="1554480"/>
            <a:ext cx="54864" cy="260604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19856" y="1664207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Role-aware operations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19856" y="2057400"/>
            <a:ext cx="2313432" cy="2011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Server-enforced scopes keep Chief Secretary, DC, Tahsildar and department views within assigned boundaries.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99048" y="1554480"/>
            <a:ext cx="2606040" cy="2606040"/>
          </a:xfrm>
          <a:prstGeom prst="roundRect">
            <a:avLst/>
          </a:prstGeom>
          <a:solidFill>
            <a:srgbClr val="EEF6F2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99048" y="1554480"/>
            <a:ext cx="54864" cy="26060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1664207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Constrained assistance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2057400"/>
            <a:ext cx="2313432" cy="2011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Six sequential workflow nodes use deterministic rules and authorized evidence. Gemini is optional phrasing, not an action authority.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" y="4370832"/>
            <a:ext cx="438912" cy="2468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087F91"/>
                </a:solidFill>
                <a:latin typeface="Arial"/>
              </a:rPr>
              <a:t>USP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4334256"/>
            <a:ext cx="77724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3038"/>
                </a:solidFill>
                <a:latin typeface="Arial"/>
              </a:rPr>
              <a:t>A traceable service workflow where guidance, scope checks and human confirmation are explicit.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Services and capabilities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411480" y="1554480"/>
            <a:ext cx="2606040" cy="11887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11480" y="1554480"/>
            <a:ext cx="54864" cy="11887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6072" y="1664207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Pension assistance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072" y="2057400"/>
            <a:ext cx="2313432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Social Welfare | 30-day demo SLA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55264" y="1554480"/>
            <a:ext cx="2606040" cy="11887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55264" y="1554480"/>
            <a:ext cx="54864" cy="11887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19856" y="1664207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Birth certificate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19856" y="2057400"/>
            <a:ext cx="2313432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Civil Registration | 14-day demo SLA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99048" y="1554480"/>
            <a:ext cx="2606040" cy="11887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099048" y="1554480"/>
            <a:ext cx="54864" cy="11887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63640" y="1664207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Property registration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63640" y="2057400"/>
            <a:ext cx="2313432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Revenue | 30-day demo SLA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828800" y="2971800"/>
            <a:ext cx="2606040" cy="11887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828800" y="2971800"/>
            <a:ext cx="54864" cy="11887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93392" y="308152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Driving licence renewal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93392" y="3474720"/>
            <a:ext cx="2313432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Transport | 21-day demo SLA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63440" y="2971800"/>
            <a:ext cx="2606040" cy="11887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663440" y="2971800"/>
            <a:ext cx="54864" cy="11887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28031" y="308152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Water supply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28031" y="3474720"/>
            <a:ext cx="2313432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Public Works | 7-day demo SLA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5760" y="4553712"/>
            <a:ext cx="837590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9" b="0">
                <a:solidFill>
                  <a:srgbClr val="A66B24"/>
                </a:solidFill>
                <a:latin typeface="Arial"/>
              </a:rPr>
              <a:t>All deadlines shown are illustrative demo rules, not official processing-time commitments.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Use case: guidance to reviewed request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65760" y="1901952"/>
            <a:ext cx="1225296" cy="107899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8912" y="2039112"/>
            <a:ext cx="107899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087F91"/>
                </a:solidFill>
                <a:latin typeface="Arial"/>
              </a:rPr>
              <a:t>CITIZEN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2423160"/>
            <a:ext cx="1042416" cy="448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60" b="0">
                <a:solidFill>
                  <a:srgbClr val="1C3038"/>
                </a:solidFill>
                <a:latin typeface="Arial"/>
              </a:rPr>
              <a:t>Chooses a service and shares a question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828800" y="1901952"/>
            <a:ext cx="1225296" cy="107899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901952" y="2039112"/>
            <a:ext cx="107899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087F91"/>
                </a:solidFill>
                <a:latin typeface="Arial"/>
              </a:rPr>
              <a:t>REACT UI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20240" y="2423160"/>
            <a:ext cx="1042416" cy="448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60" b="0">
                <a:solidFill>
                  <a:srgbClr val="1C3038"/>
                </a:solidFill>
                <a:latin typeface="Arial"/>
              </a:rPr>
              <a:t>Typed forms and Samanvay guide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291840" y="1901952"/>
            <a:ext cx="1225296" cy="107899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64992" y="2039112"/>
            <a:ext cx="107899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087F91"/>
                </a:solidFill>
                <a:latin typeface="Arial"/>
              </a:rPr>
              <a:t>FASTAPI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83280" y="2423160"/>
            <a:ext cx="1042416" cy="448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60" b="0">
                <a:solidFill>
                  <a:srgbClr val="1C3038"/>
                </a:solidFill>
                <a:latin typeface="Arial"/>
              </a:rPr>
              <a:t>Validates inputs and identity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754880" y="1901952"/>
            <a:ext cx="1225296" cy="107899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28032" y="2039112"/>
            <a:ext cx="107899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087F91"/>
                </a:solidFill>
                <a:latin typeface="Arial"/>
              </a:rPr>
              <a:t>LANGGRAPH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6320" y="2423160"/>
            <a:ext cx="1042416" cy="448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60" b="0">
                <a:solidFill>
                  <a:srgbClr val="1C3038"/>
                </a:solidFill>
                <a:latin typeface="Arial"/>
              </a:rPr>
              <a:t>Six sequential evidence steps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217920" y="1901952"/>
            <a:ext cx="1225296" cy="107899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91072" y="2039112"/>
            <a:ext cx="107899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087F91"/>
                </a:solidFill>
                <a:latin typeface="Arial"/>
              </a:rPr>
              <a:t>SQLALCHEMY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59" y="2423160"/>
            <a:ext cx="1042416" cy="448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60" b="0">
                <a:solidFill>
                  <a:srgbClr val="1C3038"/>
                </a:solidFill>
                <a:latin typeface="Arial"/>
              </a:rPr>
              <a:t>Reads or writes the case store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0" y="1901952"/>
            <a:ext cx="1225296" cy="107899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54112" y="2039112"/>
            <a:ext cx="107899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087F91"/>
                </a:solidFill>
                <a:latin typeface="Arial"/>
              </a:rPr>
              <a:t>REVIEW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72400" y="2423160"/>
            <a:ext cx="1042416" cy="448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60" b="0">
                <a:solidFill>
                  <a:srgbClr val="1C3038"/>
                </a:solidFill>
                <a:latin typeface="Arial"/>
              </a:rPr>
              <a:t>Response, status and audit view</a:t>
            </a:r>
          </a:p>
        </p:txBody>
      </p:sp>
      <p:sp>
        <p:nvSpPr>
          <p:cNvPr id="114" name="Chevron 113"/>
          <p:cNvSpPr/>
          <p:nvPr/>
        </p:nvSpPr>
        <p:spPr>
          <a:xfrm>
            <a:off x="1627632" y="2258568"/>
            <a:ext cx="146304" cy="320040"/>
          </a:xfrm>
          <a:prstGeom prst="chevron">
            <a:avLst/>
          </a:prstGeom>
          <a:solidFill>
            <a:srgbClr val="48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Chevron 114"/>
          <p:cNvSpPr/>
          <p:nvPr/>
        </p:nvSpPr>
        <p:spPr>
          <a:xfrm>
            <a:off x="3090672" y="2258568"/>
            <a:ext cx="146304" cy="320040"/>
          </a:xfrm>
          <a:prstGeom prst="chevron">
            <a:avLst/>
          </a:prstGeom>
          <a:solidFill>
            <a:srgbClr val="48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hevron 115"/>
          <p:cNvSpPr/>
          <p:nvPr/>
        </p:nvSpPr>
        <p:spPr>
          <a:xfrm>
            <a:off x="4553712" y="2258568"/>
            <a:ext cx="146304" cy="320040"/>
          </a:xfrm>
          <a:prstGeom prst="chevron">
            <a:avLst/>
          </a:prstGeom>
          <a:solidFill>
            <a:srgbClr val="48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Chevron 116"/>
          <p:cNvSpPr/>
          <p:nvPr/>
        </p:nvSpPr>
        <p:spPr>
          <a:xfrm>
            <a:off x="6016752" y="2258568"/>
            <a:ext cx="146304" cy="320040"/>
          </a:xfrm>
          <a:prstGeom prst="chevron">
            <a:avLst/>
          </a:prstGeom>
          <a:solidFill>
            <a:srgbClr val="48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Chevron 117"/>
          <p:cNvSpPr/>
          <p:nvPr/>
        </p:nvSpPr>
        <p:spPr>
          <a:xfrm>
            <a:off x="7479792" y="2258568"/>
            <a:ext cx="146304" cy="320040"/>
          </a:xfrm>
          <a:prstGeom prst="chevron">
            <a:avLst/>
          </a:prstGeom>
          <a:solidFill>
            <a:srgbClr val="48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8912" y="3291840"/>
            <a:ext cx="822960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C3038"/>
                </a:solidFill>
                <a:latin typeface="Arial"/>
              </a:rPr>
              <a:t>CHAT PATH: Citizen Service -&gt; Policy Reasoning -&gt; Case Resolution -&gt; Escalation -&gt; Sentiment/Grievance -&gt; Governance Intelligence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30352" y="3675887"/>
            <a:ext cx="3794760" cy="86868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30352" y="3675887"/>
            <a:ext cx="54864" cy="86868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94944" y="3785615"/>
            <a:ext cx="35204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Mutation guard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4944" y="4178807"/>
            <a:ext cx="3502152" cy="2743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526B73"/>
                </a:solidFill>
                <a:latin typeface="Arial"/>
              </a:rPr>
              <a:t>Escalations require explicit consent or an explicit user action.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800600" y="3675887"/>
            <a:ext cx="37947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800600" y="3675887"/>
            <a:ext cx="54864" cy="86868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965192" y="3785615"/>
            <a:ext cx="35204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No silent submission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65192" y="4178807"/>
            <a:ext cx="3502152" cy="27431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526B73"/>
                </a:solidFill>
                <a:latin typeface="Arial"/>
              </a:rPr>
              <a:t>Assistant navigation opens a form; the citizen reviews and submits.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Prototype screens: citizen and official workspaces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93192" y="1325880"/>
            <a:ext cx="832104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526B73"/>
                </a:solidFill>
                <a:latin typeface="Arial"/>
              </a:rPr>
              <a:t>Screens captured from the running local pilot. Values are synthetic and may change as the demo database changes.</a:t>
            </a:r>
          </a:p>
        </p:txBody>
      </p:sp>
      <p:pic>
        <p:nvPicPr>
          <p:cNvPr id="105" name="Picture 104" descr="citize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755648"/>
            <a:ext cx="2606040" cy="14630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411480" y="3364992"/>
            <a:ext cx="2615184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C3038"/>
                </a:solidFill>
                <a:latin typeface="Arial"/>
              </a:rPr>
              <a:t>Citizen workspace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1480" y="3675887"/>
            <a:ext cx="2615184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69" b="0">
                <a:solidFill>
                  <a:srgbClr val="526B73"/>
                </a:solidFill>
                <a:latin typeface="Arial"/>
              </a:rPr>
              <a:t>Applications first; service request options below.</a:t>
            </a:r>
          </a:p>
        </p:txBody>
      </p:sp>
      <p:pic>
        <p:nvPicPr>
          <p:cNvPr id="108" name="Picture 107" descr="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1755648"/>
            <a:ext cx="2606040" cy="146304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264408" y="3364992"/>
            <a:ext cx="2615184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C3038"/>
                </a:solidFill>
                <a:latin typeface="Arial"/>
              </a:rPr>
              <a:t>Regional service pulse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64408" y="3675887"/>
            <a:ext cx="2615184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69" b="0">
                <a:solidFill>
                  <a:srgbClr val="526B73"/>
                </a:solidFill>
                <a:latin typeface="Arial"/>
              </a:rPr>
              <a:t>Department dots over approximate pilot regions.</a:t>
            </a:r>
          </a:p>
        </p:txBody>
      </p:sp>
      <p:pic>
        <p:nvPicPr>
          <p:cNvPr id="111" name="Picture 110" descr="assistan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1755648"/>
            <a:ext cx="2606040" cy="146304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117336" y="3364992"/>
            <a:ext cx="2615184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C3038"/>
                </a:solidFill>
                <a:latin typeface="Arial"/>
              </a:rPr>
              <a:t>Samanvay guidance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17336" y="3675887"/>
            <a:ext cx="2615184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69" b="0">
                <a:solidFill>
                  <a:srgbClr val="526B73"/>
                </a:solidFill>
                <a:latin typeface="Arial"/>
              </a:rPr>
              <a:t>Guided movement opens a real reviewable form.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4498848"/>
            <a:ext cx="837590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9" b="0">
                <a:solidFill>
                  <a:srgbClr val="526B73"/>
                </a:solidFill>
                <a:latin typeface="Arial"/>
              </a:rPr>
              <a:t>Samanvay currently supports English, Hindi and Kannada text guidance; spoken voice availability depends on browser/device or configured Google Cloud TTS.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Architecture: current pilot and deployment target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411480" y="1298448"/>
            <a:ext cx="1920240" cy="310896"/>
          </a:xfrm>
          <a:prstGeom prst="round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8056" y="1307592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87F91"/>
                </a:solidFill>
                <a:latin typeface="Arial"/>
              </a:rPr>
              <a:t>IMPLEMENTED PILOT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1480" y="1783080"/>
            <a:ext cx="1490472" cy="71323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4632" y="186537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React + TypeScript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4632" y="214884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Vite SPA; citizen and official UI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103120" y="1783080"/>
            <a:ext cx="1490472" cy="71323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76272" y="186537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FastAPI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76272" y="214884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Routes, validation and identity boundary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794760" y="1783080"/>
            <a:ext cx="1490472" cy="71323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867912" y="186537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LangGraph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67912" y="214884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Six sequential workflow nodes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486400" y="1783080"/>
            <a:ext cx="1490472" cy="71323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559552" y="186537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SQLAlchemy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559552" y="214884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Repository and transaction logic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178040" y="1783080"/>
            <a:ext cx="1490472" cy="713232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51192" y="186537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SQLite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51192" y="214884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Synthetic local demo database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912" y="2615184"/>
            <a:ext cx="8275320" cy="3017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526B73"/>
                </a:solidFill>
                <a:latin typeface="Arial"/>
              </a:rPr>
              <a:t>Optional integrations: Firebase Auth (verified tokens), Gemini/Vertex text synthesis, PostgreSQL-compatible DATABASE_URL.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11480" y="3182112"/>
            <a:ext cx="2313432" cy="310896"/>
          </a:xfrm>
          <a:prstGeom prst="roundRect">
            <a:avLst/>
          </a:prstGeom>
          <a:solidFill>
            <a:srgbClr val="FA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48056" y="3191256"/>
            <a:ext cx="22402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>
                <a:solidFill>
                  <a:srgbClr val="A66B24"/>
                </a:solidFill>
                <a:latin typeface="Arial"/>
              </a:rPr>
              <a:t>CONFIGURED DEPLOYMENT PATH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11480" y="3657600"/>
            <a:ext cx="1490472" cy="713232"/>
          </a:xfrm>
          <a:prstGeom prst="roundRect">
            <a:avLst/>
          </a:prstGeom>
          <a:solidFill>
            <a:srgbClr val="FAF2E7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84632" y="373989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GitLab CI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" y="402336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Tests and build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103120" y="3657600"/>
            <a:ext cx="1490472" cy="713232"/>
          </a:xfrm>
          <a:prstGeom prst="roundRect">
            <a:avLst/>
          </a:prstGeom>
          <a:solidFill>
            <a:srgbClr val="FAF2E7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176272" y="373989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OIDC / WIF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76272" y="402336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Keyless Google identity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794760" y="3657600"/>
            <a:ext cx="1490472" cy="713232"/>
          </a:xfrm>
          <a:prstGeom prst="roundRect">
            <a:avLst/>
          </a:prstGeom>
          <a:solidFill>
            <a:srgbClr val="FAF2E7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867912" y="373989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Cloud Build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67912" y="402336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Builds root-context image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486400" y="3657600"/>
            <a:ext cx="1490472" cy="713232"/>
          </a:xfrm>
          <a:prstGeom prst="roundRect">
            <a:avLst/>
          </a:prstGeom>
          <a:solidFill>
            <a:srgbClr val="FAF2E7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59552" y="373989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Artifact Registry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559552" y="402336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Commit-tagged container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178040" y="3657600"/>
            <a:ext cx="1490472" cy="713232"/>
          </a:xfrm>
          <a:prstGeom prst="roundRect">
            <a:avLst/>
          </a:prstGeom>
          <a:solidFill>
            <a:srgbClr val="FAF2E7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251192" y="3739896"/>
            <a:ext cx="13441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087F91"/>
                </a:solidFill>
                <a:latin typeface="Arial"/>
              </a:rPr>
              <a:t>Cloud Run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251192" y="4023360"/>
            <a:ext cx="1344168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1C3038"/>
                </a:solidFill>
                <a:latin typeface="Arial"/>
              </a:rPr>
              <a:t>One combined app service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8912" y="4498848"/>
            <a:ext cx="82753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69" b="0">
                <a:solidFill>
                  <a:srgbClr val="A66B24"/>
                </a:solidFill>
                <a:latin typeface="Arial"/>
              </a:rPr>
              <a:t>Cloud Run deployment requires GCP setup; no live cloud deployment is claimed. Microservice/microfrontend boxes are a future migration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Technology stack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411480" y="1481328"/>
            <a:ext cx="2606040" cy="260604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11480" y="1481328"/>
            <a:ext cx="54864" cy="26060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76072" y="1591056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Experience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76072" y="1984248"/>
            <a:ext cx="2313432" cy="2011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React 19 + TypeScript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Vite build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Recharts + Lucide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Responsive citizen and governance views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55264" y="1481328"/>
            <a:ext cx="2606040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55264" y="1481328"/>
            <a:ext cx="54864" cy="260604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19856" y="1591056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Services and workflow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19856" y="1984248"/>
            <a:ext cx="2313432" cy="2011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FastAPI + Pydantic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LangGraph: six sequential nodes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Deterministic policy/SLA checks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Optional Gemini/Vertex synthesis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099048" y="1481328"/>
            <a:ext cx="2606040" cy="2606040"/>
          </a:xfrm>
          <a:prstGeom prst="roundRect">
            <a:avLst/>
          </a:prstGeom>
          <a:solidFill>
            <a:srgbClr val="EEF6F2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099048" y="1481328"/>
            <a:ext cx="54864" cy="26060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63640" y="1591056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Data and deployment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63640" y="1984248"/>
            <a:ext cx="2313432" cy="2011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SQLAlchemy + SQLite in local demo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PostgreSQL-compatible connection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Firebase token verification optional</a:t>
            </a:r>
          </a:p>
          <a:p>
            <a:pPr>
              <a:spcAft>
                <a:spcPts val="300"/>
              </a:spcAft>
            </a:pPr>
            <a:r>
              <a:rPr sz="1010" b="0">
                <a:solidFill>
                  <a:srgbClr val="526B73"/>
                </a:solidFill>
                <a:latin typeface="Arial"/>
              </a:rPr>
              <a:t>Docker + GitLab CI + Cloud Run target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5760" y="4480560"/>
            <a:ext cx="837590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9" b="0">
                <a:solidFill>
                  <a:srgbClr val="526B73"/>
                </a:solidFill>
                <a:latin typeface="Arial"/>
              </a:rPr>
              <a:t>No Firestore, BigQuery, Vertex RAG, external department API or notification provider is currently connected.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Cost status and Google Cloud cost drivers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11480" y="1389888"/>
            <a:ext cx="8275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3038"/>
                </a:solidFill>
                <a:latin typeface="Arial"/>
              </a:rPr>
              <a:t>No Google Cloud project is provisioned, so there is no measured bill or defensible monthly estimate yet.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11480" y="1920240"/>
            <a:ext cx="2606040" cy="192024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11480" y="1920240"/>
            <a:ext cx="54864" cy="19202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76072" y="202996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Cloud Run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6072" y="2423160"/>
            <a:ext cx="2313432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26B73"/>
                </a:solidFill>
                <a:latin typeface="Arial"/>
              </a:rPr>
              <a:t>Request volume, CPU/memory, concurrency and minimum instances determine compute spend. Scale-to-zero is possible.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255264" y="1920240"/>
            <a:ext cx="26060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255264" y="1920240"/>
            <a:ext cx="54864" cy="192024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419856" y="202996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Cloud SQL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19856" y="2423160"/>
            <a:ext cx="2313432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26B73"/>
                </a:solidFill>
                <a:latin typeface="Arial"/>
              </a:rPr>
              <a:t>Instance tier, storage, backups and connectivity are the main persistent baseline cost drivers.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099048" y="1920240"/>
            <a:ext cx="2606040" cy="1920240"/>
          </a:xfrm>
          <a:prstGeom prst="roundRect">
            <a:avLst/>
          </a:prstGeom>
          <a:solidFill>
            <a:srgbClr val="EEF6F2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099048" y="1920240"/>
            <a:ext cx="54864" cy="19202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263640" y="202996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Optional services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63640" y="2423160"/>
            <a:ext cx="2313432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26B73"/>
                </a:solidFill>
                <a:latin typeface="Arial"/>
              </a:rPr>
              <a:t>Artifact Registry, logs, network egress, Vertex/Gemini and Cloud TTS depend on use and retention.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5760" y="4297680"/>
            <a:ext cx="837590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9" b="0">
                <a:solidFill>
                  <a:srgbClr val="A66B24"/>
                </a:solidFill>
                <a:latin typeface="Arial"/>
              </a:rPr>
              <a:t>Before deployment, price the chosen region, Cloud SQL tier, request profile and model usage in Google Cloud Pricing Calculator. No cost values are invented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Prototype snapshots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ov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417320"/>
            <a:ext cx="2606040" cy="146304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411480" y="2999232"/>
            <a:ext cx="2615184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9" b="1">
                <a:solidFill>
                  <a:srgbClr val="1C3038"/>
                </a:solidFill>
                <a:latin typeface="Arial"/>
              </a:rPr>
              <a:t>Scoped governance KPIs</a:t>
            </a:r>
          </a:p>
        </p:txBody>
      </p:sp>
      <p:pic>
        <p:nvPicPr>
          <p:cNvPr id="138" name="Picture 137" descr="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1417320"/>
            <a:ext cx="2606040" cy="146304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264408" y="2999232"/>
            <a:ext cx="2615184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9" b="1">
                <a:solidFill>
                  <a:srgbClr val="1C3038"/>
                </a:solidFill>
                <a:latin typeface="Arial"/>
              </a:rPr>
              <a:t>Department and region counts</a:t>
            </a:r>
          </a:p>
        </p:txBody>
      </p:sp>
      <p:pic>
        <p:nvPicPr>
          <p:cNvPr id="140" name="Picture 139" descr="for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1417320"/>
            <a:ext cx="2606040" cy="146304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6117336" y="2999232"/>
            <a:ext cx="2615184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9" b="1">
                <a:solidFill>
                  <a:srgbClr val="1C3038"/>
                </a:solidFill>
                <a:latin typeface="Arial"/>
              </a:rPr>
              <a:t>Citizen intake review form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38912" y="3794760"/>
            <a:ext cx="827532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26B73"/>
                </a:solidFill>
                <a:latin typeface="Arial"/>
              </a:rPr>
              <a:t>Current prototype: role selector is explicitly synthetic. In production, Firebase custom claims and trusted assignments must define official scopes.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Prototype validation: measured checks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411480" y="1508760"/>
            <a:ext cx="2606040" cy="1389888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11480" y="1508760"/>
            <a:ext cx="54864" cy="1389888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6072" y="161848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32 backend tests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76072" y="2011680"/>
            <a:ext cx="2313432" cy="7955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80" b="0">
                <a:solidFill>
                  <a:srgbClr val="526B73"/>
                </a:solidFill>
                <a:latin typeface="Arial"/>
              </a:rPr>
              <a:t>Domain, jurisdiction, retrieval, memory, API and mocked speech paths pass.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255264" y="1508760"/>
            <a:ext cx="260604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255264" y="1508760"/>
            <a:ext cx="54864" cy="1389888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19856" y="161848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Production build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419856" y="2011680"/>
            <a:ext cx="2313432" cy="7955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80" b="0">
                <a:solidFill>
                  <a:srgbClr val="526B73"/>
                </a:solidFill>
                <a:latin typeface="Arial"/>
              </a:rPr>
              <a:t>TypeScript check and Vite production build pass.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099048" y="1508760"/>
            <a:ext cx="2606040" cy="1389888"/>
          </a:xfrm>
          <a:prstGeom prst="roundRect">
            <a:avLst/>
          </a:prstGeom>
          <a:solidFill>
            <a:srgbClr val="EEF6F2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99048" y="1508760"/>
            <a:ext cx="54864" cy="1389888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263640" y="161848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Scope verification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63640" y="2011680"/>
            <a:ext cx="2313432" cy="7955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80" b="0">
                <a:solidFill>
                  <a:srgbClr val="526B73"/>
                </a:solidFill>
                <a:latin typeface="Arial"/>
              </a:rPr>
              <a:t>State, district, taluk and department filters are asserted at the API layer.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11480" y="3154680"/>
            <a:ext cx="2606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11480" y="3154680"/>
            <a:ext cx="54864" cy="114300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76072" y="326440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Refresh behavior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76072" y="3657600"/>
            <a:ext cx="2313432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526B73"/>
                </a:solidFill>
                <a:latin typeface="Arial"/>
              </a:rPr>
              <a:t>Overview refreshes on a 15-second client interval.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255264" y="3154680"/>
            <a:ext cx="2606040" cy="114300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255264" y="3154680"/>
            <a:ext cx="54864" cy="114300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419856" y="326440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Map pilot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419856" y="3657600"/>
            <a:ext cx="2313432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526B73"/>
                </a:solidFill>
                <a:latin typeface="Arial"/>
              </a:rPr>
              <a:t>Six named districts; approximate centroids; aggregates reconcile to scoped cases.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099048" y="3154680"/>
            <a:ext cx="2606040" cy="1143000"/>
          </a:xfrm>
          <a:prstGeom prst="roundRect">
            <a:avLst/>
          </a:prstGeom>
          <a:solidFill>
            <a:srgbClr val="FAF2E7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099048" y="3154680"/>
            <a:ext cx="54864" cy="1143000"/>
          </a:xfrm>
          <a:prstGeom prst="rect">
            <a:avLst/>
          </a:prstGeom>
          <a:solidFill>
            <a:srgbClr val="A6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263640" y="3264408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Not benchmarked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263640" y="3657600"/>
            <a:ext cx="2313432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526B73"/>
                </a:solidFill>
                <a:latin typeface="Arial"/>
              </a:rPr>
              <a:t>No load test, p95 latency, production SLO or cloud scale test is claimed.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Roadmap: from pilot to trusted deployment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411480" y="1627632"/>
            <a:ext cx="1984248" cy="21031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11480" y="1627632"/>
            <a:ext cx="54864" cy="21031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6072" y="1737360"/>
            <a:ext cx="17099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01 / TRUST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76072" y="2130552"/>
            <a:ext cx="1691639" cy="1508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Provision Firebase claims; validate official roles; approve canonical policy and geography sources.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523744" y="1627632"/>
            <a:ext cx="1984248" cy="210312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523744" y="1627632"/>
            <a:ext cx="54864" cy="210312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688336" y="1737360"/>
            <a:ext cx="17099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02 / DATA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88336" y="2130552"/>
            <a:ext cx="1691639" cy="1508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Deploy Cloud SQL with migrations, backups, private connectivity and retention controls.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636008" y="1627632"/>
            <a:ext cx="1984248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636008" y="1627632"/>
            <a:ext cx="54864" cy="210312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800600" y="1737360"/>
            <a:ext cx="17099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03 / OPERATE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00600" y="2130552"/>
            <a:ext cx="1691639" cy="1508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Add request tracing, load tests, dashboards, alerts and incident/runbook ownership.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748272" y="1627632"/>
            <a:ext cx="1984248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48272" y="1627632"/>
            <a:ext cx="54864" cy="210312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912864" y="1737360"/>
            <a:ext cx="17099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04 / EXTRACT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912864" y="2130552"/>
            <a:ext cx="1691639" cy="1508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30" b="0">
                <a:solidFill>
                  <a:srgbClr val="526B73"/>
                </a:solidFill>
                <a:latin typeface="Arial"/>
              </a:rPr>
              <a:t>Split service APIs and microfrontends only after data ownership and API contracts are defined.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65760" y="4279392"/>
            <a:ext cx="837590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9" b="0">
                <a:solidFill>
                  <a:srgbClr val="A66B24"/>
                </a:solidFill>
                <a:latin typeface="Arial"/>
              </a:rPr>
              <a:t>The attached Cloud Run diagram is a target architecture; current source remains one React SPA and one FastAPI runtime.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11111"/>
                </a:solidFill>
                <a:latin typeface="Arial"/>
              </a:rPr>
              <a:t>Repository, demo and product access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11480" y="1572768"/>
            <a:ext cx="2606040" cy="2148840"/>
          </a:xfrm>
          <a:prstGeom prst="roundRect">
            <a:avLst/>
          </a:prstGeom>
          <a:solidFill>
            <a:srgbClr val="E5F2F5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11480" y="1572768"/>
            <a:ext cx="54864" cy="21488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6072" y="1682495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Repository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76072" y="2075688"/>
            <a:ext cx="2313432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40" b="0">
                <a:solidFill>
                  <a:srgbClr val="526B73"/>
                </a:solidFill>
                <a:latin typeface="Arial"/>
              </a:rPr>
              <a:t>GitLab migration is planned. This workspace is not currently connected to a public Git remote.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255264" y="1572768"/>
            <a:ext cx="26060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255264" y="1572768"/>
            <a:ext cx="54864" cy="2148840"/>
          </a:xfrm>
          <a:prstGeom prst="rect">
            <a:avLst/>
          </a:prstGeom>
          <a:solidFill>
            <a:srgbClr val="4E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419856" y="1682495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Demo video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419856" y="2075688"/>
            <a:ext cx="2313432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40" b="0">
                <a:solidFill>
                  <a:srgbClr val="526B73"/>
                </a:solidFill>
                <a:latin typeface="Arial"/>
              </a:rPr>
              <a:t>media/demo-video/samanvai-overview.mp4</a:t>
            </a:r>
          </a:p>
          <a:p>
            <a:pPr>
              <a:spcAft>
                <a:spcPts val="300"/>
              </a:spcAft>
            </a:pPr>
            <a:r>
              <a:rPr sz="1040" b="0">
                <a:solidFill>
                  <a:srgbClr val="526B73"/>
                </a:solidFill>
                <a:latin typeface="Arial"/>
              </a:rPr>
              <a:t>139 seconds</a:t>
            </a:r>
          </a:p>
          <a:p>
            <a:pPr>
              <a:spcAft>
                <a:spcPts val="300"/>
              </a:spcAft>
            </a:pPr>
            <a:r>
              <a:rPr sz="1040" b="0">
                <a:solidFill>
                  <a:srgbClr val="526B73"/>
                </a:solidFill>
                <a:latin typeface="Arial"/>
              </a:rPr>
              <a:t>English voice-over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099048" y="1572768"/>
            <a:ext cx="2606040" cy="2148840"/>
          </a:xfrm>
          <a:prstGeom prst="roundRect">
            <a:avLst/>
          </a:prstGeom>
          <a:solidFill>
            <a:srgbClr val="EEF6F2"/>
          </a:solidFill>
          <a:ln w="10160">
            <a:solidFill>
              <a:srgbClr val="CB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099048" y="1572768"/>
            <a:ext cx="54864" cy="2148840"/>
          </a:xfrm>
          <a:prstGeom prst="rect">
            <a:avLst/>
          </a:prstGeom>
          <a:solidFill>
            <a:srgbClr val="087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263640" y="1682495"/>
            <a:ext cx="233172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20" b="1">
                <a:solidFill>
                  <a:srgbClr val="1C3038"/>
                </a:solidFill>
                <a:latin typeface="Arial"/>
              </a:rPr>
              <a:t>Product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263640" y="2075688"/>
            <a:ext cx="2313432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40" b="0">
                <a:solidFill>
                  <a:srgbClr val="526B73"/>
                </a:solidFill>
                <a:latin typeface="Arial"/>
              </a:rPr>
              <a:t>Local demo: http://127.0.0.1:8000</a:t>
            </a:r>
          </a:p>
          <a:p>
            <a:pPr>
              <a:spcAft>
                <a:spcPts val="300"/>
              </a:spcAft>
            </a:pPr>
            <a:r>
              <a:rPr sz="1040" b="0">
                <a:solidFill>
                  <a:srgbClr val="526B73"/>
                </a:solidFill>
                <a:latin typeface="Arial"/>
              </a:rPr>
              <a:t>No public Cloud Run URL or custom DNS is provisioned.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65760" y="4251960"/>
            <a:ext cx="837590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9" b="0">
                <a:solidFill>
                  <a:srgbClr val="526B73"/>
                </a:solidFill>
                <a:latin typeface="Arial"/>
              </a:rPr>
              <a:t>Architecture reference: architecture/cloud-run-target.html. The service split shown there is proposed, not deployed.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65176" y="667512"/>
            <a:ext cx="8942832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111"/>
                </a:solidFill>
                <a:latin typeface="Arial"/>
              </a:rPr>
              <a:t>Trust boundaries and demo limitations</a:t>
            </a:r>
          </a:p>
        </p:txBody>
      </p:sp>
      <p:sp>
        <p:nvSpPr>
          <p:cNvPr id="168" name="Oval 167"/>
          <p:cNvSpPr/>
          <p:nvPr/>
        </p:nvSpPr>
        <p:spPr>
          <a:xfrm>
            <a:off x="502920" y="1517904"/>
            <a:ext cx="82296" cy="82296"/>
          </a:xfrm>
          <a:prstGeom prst="ellipse">
            <a:avLst/>
          </a:prstGeom>
          <a:solidFill>
            <a:srgbClr val="A6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67512" y="1444752"/>
            <a:ext cx="801928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1">
                <a:solidFill>
                  <a:srgbClr val="1C3038"/>
                </a:solidFill>
                <a:latin typeface="Arial"/>
              </a:rPr>
              <a:t>Synthetic records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7512" y="1645920"/>
            <a:ext cx="7982711" cy="4206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0" b="0">
                <a:solidFill>
                  <a:srgbClr val="526B73"/>
                </a:solidFill>
                <a:latin typeface="Arial"/>
              </a:rPr>
              <a:t>Seeded citizen, request, feedback and SLA data are illustrative; do not enter real personal information.</a:t>
            </a:r>
          </a:p>
        </p:txBody>
      </p:sp>
      <p:sp>
        <p:nvSpPr>
          <p:cNvPr id="171" name="Oval 170"/>
          <p:cNvSpPr/>
          <p:nvPr/>
        </p:nvSpPr>
        <p:spPr>
          <a:xfrm>
            <a:off x="502920" y="2139696"/>
            <a:ext cx="82296" cy="82296"/>
          </a:xfrm>
          <a:prstGeom prst="ellipse">
            <a:avLst/>
          </a:prstGeom>
          <a:solidFill>
            <a:srgbClr val="A6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67512" y="2066544"/>
            <a:ext cx="801928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1">
                <a:solidFill>
                  <a:srgbClr val="1C3038"/>
                </a:solidFill>
                <a:latin typeface="Arial"/>
              </a:rPr>
              <a:t>No department integration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67512" y="2267712"/>
            <a:ext cx="7982711" cy="4206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0" b="0">
                <a:solidFill>
                  <a:srgbClr val="526B73"/>
                </a:solidFill>
                <a:latin typeface="Arial"/>
              </a:rPr>
              <a:t>Requests stay in the local pilot store; no external portal, email, SMS or officer notification is connected.</a:t>
            </a:r>
          </a:p>
        </p:txBody>
      </p:sp>
      <p:sp>
        <p:nvSpPr>
          <p:cNvPr id="174" name="Oval 173"/>
          <p:cNvSpPr/>
          <p:nvPr/>
        </p:nvSpPr>
        <p:spPr>
          <a:xfrm>
            <a:off x="502920" y="2761488"/>
            <a:ext cx="82296" cy="82296"/>
          </a:xfrm>
          <a:prstGeom prst="ellipse">
            <a:avLst/>
          </a:prstGeom>
          <a:solidFill>
            <a:srgbClr val="A6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67512" y="2688336"/>
            <a:ext cx="801928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1">
                <a:solidFill>
                  <a:srgbClr val="1C3038"/>
                </a:solidFill>
                <a:latin typeface="Arial"/>
              </a:rPr>
              <a:t>Human-confirmed actions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67512" y="2889504"/>
            <a:ext cx="7982711" cy="4206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0" b="0">
                <a:solidFill>
                  <a:srgbClr val="526B73"/>
                </a:solidFill>
                <a:latin typeface="Arial"/>
              </a:rPr>
              <a:t>Samanvay explains and navigates. Citizens review forms; escalations require explicit action or consent.</a:t>
            </a:r>
          </a:p>
        </p:txBody>
      </p:sp>
      <p:sp>
        <p:nvSpPr>
          <p:cNvPr id="177" name="Oval 176"/>
          <p:cNvSpPr/>
          <p:nvPr/>
        </p:nvSpPr>
        <p:spPr>
          <a:xfrm>
            <a:off x="502920" y="3383280"/>
            <a:ext cx="82296" cy="82296"/>
          </a:xfrm>
          <a:prstGeom prst="ellipse">
            <a:avLst/>
          </a:prstGeom>
          <a:solidFill>
            <a:srgbClr val="A6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67512" y="3310128"/>
            <a:ext cx="801928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1">
                <a:solidFill>
                  <a:srgbClr val="1C3038"/>
                </a:solidFill>
                <a:latin typeface="Arial"/>
              </a:rPr>
              <a:t>Verified production roles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67512" y="3511296"/>
            <a:ext cx="7982711" cy="4206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0" b="0">
                <a:solidFill>
                  <a:srgbClr val="526B73"/>
                </a:solidFill>
                <a:latin typeface="Arial"/>
              </a:rPr>
              <a:t>Firebase claims must be assigned through a trusted admin process; the demo role selector is not authentication.</a:t>
            </a:r>
          </a:p>
        </p:txBody>
      </p:sp>
      <p:sp>
        <p:nvSpPr>
          <p:cNvPr id="180" name="Oval 179"/>
          <p:cNvSpPr/>
          <p:nvPr/>
        </p:nvSpPr>
        <p:spPr>
          <a:xfrm>
            <a:off x="502920" y="4005072"/>
            <a:ext cx="82296" cy="82296"/>
          </a:xfrm>
          <a:prstGeom prst="ellipse">
            <a:avLst/>
          </a:prstGeom>
          <a:solidFill>
            <a:srgbClr val="A6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67512" y="3931920"/>
            <a:ext cx="801928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10" b="1">
                <a:solidFill>
                  <a:srgbClr val="1C3038"/>
                </a:solidFill>
                <a:latin typeface="Arial"/>
              </a:rPr>
              <a:t>Illustrative geography and policy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67512" y="4133088"/>
            <a:ext cx="7982711" cy="4206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10" b="0">
                <a:solidFill>
                  <a:srgbClr val="526B73"/>
                </a:solidFill>
                <a:latin typeface="Arial"/>
              </a:rPr>
              <a:t>Approximate pilot coordinates and demo rules are not authoritative boundaries, policies or processing-time commitments.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SamanvAI | AI Builder Cup Submission</dc:title>
  <cp:lastModifiedBy>python-pptx</cp:lastModifiedBy>
  <cp:revision>1</cp:revision>
  <dcterms:modified xsi:type="dcterms:W3CDTF">2026-10-18T17:31:33Z</dcterms:modified>
  <dc:subject>Civic service access and governance intelligence pilot</dc:subject>
  <dc:creator>SamanvAI Project Team</dc:creator>
  <cp:keywords>civic technology, citizen services, governance, LangGraph, Cloud Run</cp:keywords>
</cp:coreProperties>
</file>